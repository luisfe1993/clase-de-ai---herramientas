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Audiencia: VP de Producto + Director de Ingeniería. Tiempo: 20 min +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Cuidado al presentar el CFR de 9.5%: subió por el incidente del 14-feb (rollback de auth). Si preguntan, mencionar que el postmortem ya cerró todas las acciones correctivas.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Pedir a Ana que prepare el dato exacto de ahorro en S3 (USD).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riesgo de burnout es el más urgente. Si VP pregunta, ya hay req aprobado para 1 SRE adicional.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Pedir compromiso explícito de VP en el req del SRE antes de fin de 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Review Q1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130"/>
                </a:solidFill>
              </a:defRPr>
            </a:pPr>
            <a:r>
              <a:t>Equipo Plataforma Digital · Enero–Marzo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130"/>
                </a:solidFill>
              </a:defRPr>
            </a:pPr>
            <a:r>
              <a:t>Luis Sandé · Gerente de Desarrollo · Abril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8D4"/>
                </a:solidFill>
              </a:defRPr>
            </a:pPr>
            <a:r>
              <a:t>KPIs del trimestre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26517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0078D4"/>
                </a:solidFill>
              </a:defRPr>
            </a:pPr>
            <a:r>
              <a:t>12 / sem</a:t>
            </a:r>
          </a:p>
          <a:p>
            <a:pPr algn="ctr">
              <a:defRPr sz="1300">
                <a:solidFill>
                  <a:srgbClr val="323130"/>
                </a:solidFill>
              </a:defRPr>
            </a:pPr>
            <a:r>
              <a:t>Deployment Frequency</a:t>
            </a:r>
          </a:p>
          <a:p>
            <a:pPr algn="ctr">
              <a:defRPr sz="1200" b="1">
                <a:solidFill>
                  <a:srgbClr val="107C10"/>
                </a:solidFill>
              </a:defRPr>
            </a:pPr>
            <a:r>
              <a:t>▲ 33% vs Q4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828800"/>
            <a:ext cx="26517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0078D4"/>
                </a:solidFill>
              </a:defRPr>
            </a:pPr>
            <a:r>
              <a:t>2.4 días</a:t>
            </a:r>
          </a:p>
          <a:p>
            <a:pPr algn="ctr">
              <a:defRPr sz="1300">
                <a:solidFill>
                  <a:srgbClr val="323130"/>
                </a:solidFill>
              </a:defRPr>
            </a:pPr>
            <a:r>
              <a:t>Lead Time for Changes</a:t>
            </a:r>
          </a:p>
          <a:p>
            <a:pPr algn="ctr">
              <a:defRPr sz="1200" b="1">
                <a:solidFill>
                  <a:srgbClr val="107C10"/>
                </a:solidFill>
              </a:defRPr>
            </a:pPr>
            <a:r>
              <a:t>▼ 18% vs Q4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26517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0078D4"/>
                </a:solidFill>
              </a:defRPr>
            </a:pPr>
            <a:r>
              <a:t>9.5%</a:t>
            </a:r>
          </a:p>
          <a:p>
            <a:pPr algn="ctr">
              <a:defRPr sz="1300">
                <a:solidFill>
                  <a:srgbClr val="323130"/>
                </a:solidFill>
              </a:defRPr>
            </a:pPr>
            <a:r>
              <a:t>Change Failure Rate</a:t>
            </a:r>
          </a:p>
          <a:p>
            <a:pPr algn="ctr">
              <a:defRPr sz="1200" b="1">
                <a:solidFill>
                  <a:srgbClr val="C4324E"/>
                </a:solidFill>
              </a:defRPr>
            </a:pPr>
            <a:r>
              <a:t>▲ 2 pp vs Q4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1828800"/>
            <a:ext cx="26517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0078D4"/>
                </a:solidFill>
              </a:defRPr>
            </a:pPr>
            <a:r>
              <a:t>47 min</a:t>
            </a:r>
          </a:p>
          <a:p>
            <a:pPr algn="ctr">
              <a:defRPr sz="1300">
                <a:solidFill>
                  <a:srgbClr val="323130"/>
                </a:solidFill>
              </a:defRPr>
            </a:pPr>
            <a:r>
              <a:t>MTTR</a:t>
            </a:r>
          </a:p>
          <a:p>
            <a:pPr algn="ctr">
              <a:defRPr sz="1200" b="1">
                <a:solidFill>
                  <a:srgbClr val="107C10"/>
                </a:solidFill>
              </a:defRPr>
            </a:pPr>
            <a:r>
              <a:t>▼ 12% vs 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8D4"/>
                </a:solidFill>
              </a:defRPr>
            </a:pPr>
            <a:r>
              <a:t>Logros del trimestre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130"/>
                </a:solidFill>
              </a:defRPr>
            </a:pPr>
            <a:r>
              <a:t>• Migración de autenticación a OAuth 2.1: 100% del tráfico migrado en 6 semanas (planeado 10).</a:t>
            </a:r>
          </a:p>
          <a:p>
            <a:pPr>
              <a:spcBef>
                <a:spcPts val="800"/>
              </a:spcBef>
              <a:defRPr sz="1800">
                <a:solidFill>
                  <a:srgbClr val="323130"/>
                </a:solidFill>
              </a:defRPr>
            </a:pPr>
            <a:r>
              <a:t>• Reducción de costos cloud: -22% en S3 al implementar lifecycle policies.</a:t>
            </a:r>
          </a:p>
          <a:p>
            <a:pPr>
              <a:spcBef>
                <a:spcPts val="800"/>
              </a:spcBef>
              <a:defRPr sz="1800">
                <a:solidFill>
                  <a:srgbClr val="323130"/>
                </a:solidFill>
              </a:defRPr>
            </a:pPr>
            <a:r>
              <a:t>• Onboarding: 3 nuevos ingenieros productivos en &lt;30 días gracias al runbook actualizado.</a:t>
            </a:r>
          </a:p>
          <a:p>
            <a:pPr>
              <a:spcBef>
                <a:spcPts val="800"/>
              </a:spcBef>
              <a:defRPr sz="1800">
                <a:solidFill>
                  <a:srgbClr val="323130"/>
                </a:solidFill>
              </a:defRPr>
            </a:pPr>
            <a:r>
              <a:t>• Pipeline de CI/CD: tiempo promedio bajó de 14 min a 6 min tras paralelizar tests.</a:t>
            </a:r>
          </a:p>
          <a:p>
            <a:pPr>
              <a:spcBef>
                <a:spcPts val="800"/>
              </a:spcBef>
              <a:defRPr sz="1800">
                <a:solidFill>
                  <a:srgbClr val="323130"/>
                </a:solidFill>
              </a:defRPr>
            </a:pPr>
            <a:r>
              <a:t>• Cobertura de tests: pasó de 62% a 78% en los repos core.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8D4"/>
                </a:solidFill>
              </a:defRPr>
            </a:pPr>
            <a:r>
              <a:t>Riesgos identificados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8229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Riesgo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Impacto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Mitigación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130"/>
                          </a:solidFill>
                        </a:defRPr>
                      </a:pPr>
                      <a:r>
                        <a:t>Dependencia vendor pagos (un solo proveedor)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130"/>
                          </a:solidFill>
                        </a:defRPr>
                      </a:pPr>
                      <a:r>
                        <a:t>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130"/>
                          </a:solidFill>
                        </a:defRPr>
                      </a:pPr>
                      <a:r>
                        <a:t>POC con 2do proveedor en Q2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130"/>
                          </a:solidFill>
                        </a:defRPr>
                      </a:pPr>
                      <a:r>
                        <a:t>Burnout en equipo de SRE (rotación 2/6)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130"/>
                          </a:solidFill>
                        </a:defRPr>
                      </a:pPr>
                      <a:r>
                        <a:t>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130"/>
                          </a:solidFill>
                        </a:defRPr>
                      </a:pPr>
                      <a:r>
                        <a:t>Contratar 1 SRE + redistribuir on-call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130"/>
                          </a:solidFill>
                        </a:defRPr>
                      </a:pPr>
                      <a:r>
                        <a:t>Deuda técnica en módulo de reportes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130"/>
                          </a:solidFill>
                        </a:defRPr>
                      </a:pPr>
                      <a:r>
                        <a:t>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130"/>
                          </a:solidFill>
                        </a:defRPr>
                      </a:pPr>
                      <a:r>
                        <a:t>Reservar 20% del Q2 para refactor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130"/>
                          </a:solidFill>
                        </a:defRPr>
                      </a:pPr>
                      <a:r>
                        <a:t>Costos OpenAI crecieron 3x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130"/>
                          </a:solidFill>
                        </a:defRPr>
                      </a:pPr>
                      <a:r>
                        <a:t>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130"/>
                          </a:solidFill>
                        </a:defRPr>
                      </a:pPr>
                      <a:r>
                        <a:t>Cache de prompts + modelo más barato para baja prioridad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8D4"/>
                </a:solidFill>
              </a:defRPr>
            </a:pPr>
            <a:r>
              <a:t>Próximos pasos Q2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130"/>
                </a:solidFill>
              </a:defRPr>
            </a:pPr>
            <a:r>
              <a:t>• Cerrar POC vendor de pagos  —  Owner: L. Sandé  —  Fecha: 30-may</a:t>
            </a:r>
          </a:p>
          <a:p>
            <a:pPr>
              <a:spcBef>
                <a:spcPts val="1000"/>
              </a:spcBef>
              <a:defRPr sz="1800">
                <a:solidFill>
                  <a:srgbClr val="323130"/>
                </a:solidFill>
              </a:defRPr>
            </a:pPr>
            <a:r>
              <a:t>• Onboarding SRE nuevo  —  Owner: Ana M.  —  Fecha: 15-jun</a:t>
            </a:r>
          </a:p>
          <a:p>
            <a:pPr>
              <a:spcBef>
                <a:spcPts val="1000"/>
              </a:spcBef>
              <a:defRPr sz="1800">
                <a:solidFill>
                  <a:srgbClr val="323130"/>
                </a:solidFill>
              </a:defRPr>
            </a:pPr>
            <a:r>
              <a:t>• Refactor módulo reportes (fase 1)  —  Owner: Carlos R.  —  Fecha: 30-jun</a:t>
            </a:r>
          </a:p>
          <a:p>
            <a:pPr>
              <a:spcBef>
                <a:spcPts val="1000"/>
              </a:spcBef>
              <a:defRPr sz="1800">
                <a:solidFill>
                  <a:srgbClr val="323130"/>
                </a:solidFill>
              </a:defRPr>
            </a:pPr>
            <a:r>
              <a:t>• Cache de prompts OpenAI  —  Owner: Diego T.  —  Fecha: 15-jun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